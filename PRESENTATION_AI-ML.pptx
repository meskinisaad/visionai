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28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5303520" cy="51435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 flipH="1">
            <a:off x="4389120" y="0"/>
            <a:ext cx="1097280" cy="5143500"/>
          </a:xfrm>
          <a:prstGeom prst="rtTriangl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137160" y="1828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8673A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57860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Artificial Intelligence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3273552"/>
            <a:ext cx="2286000" cy="36576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365760" y="3401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Algorithms, Applications &amp;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EL MKHALET MOUNA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2468880"/>
            <a:ext cx="2743200" cy="27432"/>
          </a:xfrm>
          <a:prstGeom prst="rect">
            <a:avLst/>
          </a:prstGeom>
          <a:solidFill>
            <a:srgbClr val="7A6A5A"/>
          </a:solidFill>
          <a:ln w="12700">
            <a:solidFill>
              <a:srgbClr val="7A6A5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594360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2898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</a:rPr>
              <a:t> Abdelhakim Alhalli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401568"/>
            <a:ext cx="2743200" cy="27432"/>
          </a:xfrm>
          <a:prstGeom prst="rect">
            <a:avLst/>
          </a:prstGeom>
          <a:solidFill>
            <a:srgbClr val="7A6A5A"/>
          </a:solidFill>
          <a:ln w="12700">
            <a:solidFill>
              <a:srgbClr val="7A6A5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594360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EMSI · Academic Year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77724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91640" y="1627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911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concepts, goals, and real-world impact areas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8046720" cy="18288"/>
          </a:xfrm>
          <a:prstGeom prst="rect">
            <a:avLst/>
          </a:prstGeom>
          <a:solidFill>
            <a:srgbClr val="DDD0C5"/>
          </a:solidFill>
          <a:ln w="12700">
            <a:solidFill>
              <a:srgbClr val="DDD0C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2295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Algorithms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578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implemented models + 5 complementary techniques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862072"/>
            <a:ext cx="8046720" cy="18288"/>
          </a:xfrm>
          <a:prstGeom prst="rect">
            <a:avLst/>
          </a:prstGeom>
          <a:solidFill>
            <a:srgbClr val="DDD0C5"/>
          </a:solidFill>
          <a:ln w="12700">
            <a:solidFill>
              <a:srgbClr val="DDD0C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777240" y="29352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91640" y="2962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Use Cases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Software engineering, security, and AI systems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529584"/>
            <a:ext cx="8046720" cy="18288"/>
          </a:xfrm>
          <a:prstGeom prst="rect">
            <a:avLst/>
          </a:prstGeom>
          <a:solidFill>
            <a:srgbClr val="DDD0C5"/>
          </a:solidFill>
          <a:ln w="12700">
            <a:solidFill>
              <a:srgbClr val="DDD0C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777240" y="36027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91640" y="363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 Application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3913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design, tech stack, and interface 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197096"/>
            <a:ext cx="8046720" cy="18288"/>
          </a:xfrm>
          <a:prstGeom prst="rect">
            <a:avLst/>
          </a:prstGeom>
          <a:solidFill>
            <a:srgbClr val="DDD0C5"/>
          </a:solidFill>
          <a:ln w="12700">
            <a:solidFill>
              <a:srgbClr val="DDD0C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777240" y="4270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9164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Roadmap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4581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Known constraints and planned improvements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109728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C1440E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A302A"/>
          </a:solidFill>
          <a:ln w="12700">
            <a:solidFill>
              <a:srgbClr val="3A302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55448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Artificial Intelligence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C1440E">
              <a:alpha val="85000"/>
            </a:srgbClr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enables machines to simulate human cognitive abilities — learning from experience, understanding context, and making data-driven decisions to solve problems autonomously.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Goals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51760" cy="36576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Reduce manual workload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Extract insights from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30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Enable autonomous decisions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79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Tackle complex problems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Applied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2514600"/>
            <a:ext cx="2651760" cy="36576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3337560" y="2633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Medicine — Disease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182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Banking — Fraud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730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Mobility — Self-driving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4279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Manufacturing — Maintenance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2514600"/>
            <a:ext cx="2651760" cy="36576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6217920" y="26334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Faster than human processing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1821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Learns and improves over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730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Works across all industries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279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Scales to any data volume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91440" y="182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" y="1371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Core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3291840"/>
            <a:ext cx="1645920" cy="3657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13716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Implemented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the platform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201168"/>
            <a:ext cx="3063240" cy="1417320"/>
          </a:xfrm>
          <a:prstGeom prst="rect">
            <a:avLst/>
          </a:prstGeom>
          <a:solidFill>
            <a:srgbClr val="FAF6F1"/>
          </a:solidFill>
          <a:ln w="12700">
            <a:solidFill>
              <a:srgbClr val="E0D4C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8" name="Shape 6"/>
          <p:cNvSpPr/>
          <p:nvPr/>
        </p:nvSpPr>
        <p:spPr>
          <a:xfrm>
            <a:off x="2606040" y="201168"/>
            <a:ext cx="306324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2715768" y="3108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154680" y="338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15768" y="7955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Estimates continuous output · R², MSE · 2D &amp; 3D plots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01168"/>
            <a:ext cx="3063240" cy="1417320"/>
          </a:xfrm>
          <a:prstGeom prst="rect">
            <a:avLst/>
          </a:prstGeom>
          <a:solidFill>
            <a:srgbClr val="FAF6F1"/>
          </a:solidFill>
          <a:ln w="12700">
            <a:solidFill>
              <a:srgbClr val="E0D4C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Shape 11"/>
          <p:cNvSpPr/>
          <p:nvPr/>
        </p:nvSpPr>
        <p:spPr>
          <a:xfrm>
            <a:off x="5852160" y="201168"/>
            <a:ext cx="3063240" cy="54864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5961888" y="3108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61888" y="7955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Partitions data into k groups · Silhouette Score · Multi-view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1773936"/>
            <a:ext cx="3063240" cy="1417320"/>
          </a:xfrm>
          <a:prstGeom prst="rect">
            <a:avLst/>
          </a:prstGeom>
          <a:solidFill>
            <a:srgbClr val="FAF6F1"/>
          </a:solidFill>
          <a:ln w="12700">
            <a:solidFill>
              <a:srgbClr val="E0D4C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2606040" y="1773936"/>
            <a:ext cx="306324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2715768" y="18836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154680" y="1911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15768" y="23682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Ensemble classifier · Confusion Matrix · Feature ranking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1773936"/>
            <a:ext cx="3063240" cy="1417320"/>
          </a:xfrm>
          <a:prstGeom prst="rect">
            <a:avLst/>
          </a:prstGeom>
          <a:solidFill>
            <a:srgbClr val="FAF6F1"/>
          </a:solidFill>
          <a:ln w="12700">
            <a:solidFill>
              <a:srgbClr val="E0D4C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Shape 21"/>
          <p:cNvSpPr/>
          <p:nvPr/>
        </p:nvSpPr>
        <p:spPr>
          <a:xfrm>
            <a:off x="5852160" y="1773936"/>
            <a:ext cx="3063240" cy="54864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5961888" y="18836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00800" y="19110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ARIMA Forecasting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61888" y="23682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Time-series trends · Tunable p,d,q parameters · MSE scoring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3346704"/>
            <a:ext cx="3063240" cy="1417320"/>
          </a:xfrm>
          <a:prstGeom prst="rect">
            <a:avLst/>
          </a:prstGeom>
          <a:solidFill>
            <a:srgbClr val="FAF6F1"/>
          </a:solidFill>
          <a:ln w="12700">
            <a:solidFill>
              <a:srgbClr val="E0D4C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Shape 26"/>
          <p:cNvSpPr/>
          <p:nvPr/>
        </p:nvSpPr>
        <p:spPr>
          <a:xfrm>
            <a:off x="2606040" y="3346704"/>
            <a:ext cx="306324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2715768" y="34564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154680" y="3483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Neural Network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15768" y="394106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Feedforward layers · Configurable depth · 2D/3D curves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3346704"/>
            <a:ext cx="3063240" cy="1417320"/>
          </a:xfrm>
          <a:prstGeom prst="rect">
            <a:avLst/>
          </a:prstGeom>
          <a:solidFill>
            <a:srgbClr val="FAF6F1"/>
          </a:solidFill>
          <a:ln w="12700">
            <a:solidFill>
              <a:srgbClr val="E0D4C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Shape 31"/>
          <p:cNvSpPr/>
          <p:nvPr/>
        </p:nvSpPr>
        <p:spPr>
          <a:xfrm>
            <a:off x="5852160" y="3346704"/>
            <a:ext cx="3063240" cy="54864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Text 32"/>
          <p:cNvSpPr/>
          <p:nvPr/>
        </p:nvSpPr>
        <p:spPr>
          <a:xfrm>
            <a:off x="5961888" y="34564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00800" y="34838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K-Fold Cross-Validation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61888" y="394106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Generalization testing · 4 models compared · 4 charts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737360" y="2011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Complementary Techniques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1874520" y="960120"/>
            <a:ext cx="36576" cy="3931920"/>
          </a:xfrm>
          <a:prstGeom prst="rect">
            <a:avLst/>
          </a:prstGeom>
          <a:solidFill>
            <a:srgbClr val="7A6A5A"/>
          </a:solidFill>
          <a:ln w="12700">
            <a:solidFill>
              <a:srgbClr val="7A6A5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1737360" y="1143000"/>
            <a:ext cx="256032" cy="256032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37160" y="1051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" y="1335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 Vector Machine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07899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Finds the optimal class boundary using kernel tricks. Excellent on high-dimensional, small datasets.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1947672"/>
            <a:ext cx="256032" cy="256032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137160" y="1856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" y="2139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/ LightGBM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188366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Sequential trees, each fixing prior errors. Industry-leading accuracy on structured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2752344"/>
            <a:ext cx="256032" cy="256032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137160" y="26609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" y="2944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Rule-Based Classifier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48840" y="268833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Recursive Gini/entropy splits. Visually interpretable; needs pruning to avoid overfitting.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3557016"/>
            <a:ext cx="256032" cy="256032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137160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" y="3749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Probabilistic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48840" y="349300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Bayes' theorem with independence assumption. Fast, lightweight — perfect for text classification.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37360" y="4361688"/>
            <a:ext cx="256032" cy="256032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137160" y="4270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" y="4553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Principal Component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48840" y="42976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Projects data onto maximum-variance axes. Reduces dimensionality for visualization and denoising.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Use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8892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Engineering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1371600" cy="3657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Estimate execution time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Detect code defects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5478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Cluster test scenarios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430682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ARIMA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Forecast resource usage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18688" y="1325880"/>
            <a:ext cx="2788920" cy="365760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3355848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5848" y="1901952"/>
            <a:ext cx="1371600" cy="36576"/>
          </a:xfrm>
          <a:prstGeom prst="rect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3355848" y="2029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Detect network intrusions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55848" y="2788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Identify malware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55848" y="35478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Filter phishing emails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55848" y="430682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8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ARIMA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Flag traffic anomalies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63056" y="1325880"/>
            <a:ext cx="2788920" cy="3657600"/>
          </a:xfrm>
          <a:prstGeom prst="rect">
            <a:avLst/>
          </a:prstGeom>
          <a:solidFill>
            <a:srgbClr val="F2E8DC"/>
          </a:solidFill>
          <a:ln w="12700">
            <a:solidFill>
              <a:srgbClr val="F2E8DC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6300216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Data Science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0216" y="1901952"/>
            <a:ext cx="1371600" cy="3657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6300216" y="2029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Approximate complex functions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0216" y="2788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Validate model reliability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0216" y="35478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Power recommendations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0216" y="430682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Segment user behavior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3A302A"/>
          </a:solidFill>
          <a:ln w="12700">
            <a:solidFill>
              <a:srgbClr val="3A302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 Application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480560" cy="3657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103120" cy="1005840"/>
          </a:xfrm>
          <a:prstGeom prst="rect">
            <a:avLst/>
          </a:prstGeom>
          <a:solidFill>
            <a:srgbClr val="3A302A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965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463040"/>
            <a:ext cx="2103120" cy="1005840"/>
          </a:xfrm>
          <a:prstGeom prst="rect">
            <a:avLst/>
          </a:prstGeom>
          <a:solidFill>
            <a:srgbClr val="3A302A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280720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PyQt5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07208" y="1965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Desktop GUI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103120" cy="1005840"/>
          </a:xfrm>
          <a:prstGeom prst="rect">
            <a:avLst/>
          </a:prstGeom>
          <a:solidFill>
            <a:srgbClr val="3A302A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475488" y="2697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algorithms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2606040"/>
            <a:ext cx="2103120" cy="1005840"/>
          </a:xfrm>
          <a:prstGeom prst="rect">
            <a:avLst/>
          </a:prstGeom>
          <a:solidFill>
            <a:srgbClr val="3A302A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2807208" y="2697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statsmodels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07208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ARIMA / time-series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2103120" cy="1005840"/>
          </a:xfrm>
          <a:prstGeom prst="rect">
            <a:avLst/>
          </a:prstGeom>
          <a:solidFill>
            <a:srgbClr val="3A302A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475488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" y="4251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Chart rendering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3749040"/>
            <a:ext cx="2103120" cy="1005840"/>
          </a:xfrm>
          <a:prstGeom prst="rect">
            <a:avLst/>
          </a:prstGeom>
          <a:solidFill>
            <a:srgbClr val="3A302A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2807208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PyInstaller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07208" y="4251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Builds .exe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37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INTERFACE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594360"/>
            <a:ext cx="3657600" cy="1325880"/>
          </a:xfrm>
          <a:prstGeom prst="rect">
            <a:avLst/>
          </a:prstGeom>
          <a:solidFill>
            <a:srgbClr val="2A2320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7" name="Shape 25"/>
          <p:cNvSpPr/>
          <p:nvPr/>
        </p:nvSpPr>
        <p:spPr>
          <a:xfrm>
            <a:off x="5257800" y="594360"/>
            <a:ext cx="685800" cy="132588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Text 26"/>
          <p:cNvSpPr/>
          <p:nvPr/>
        </p:nvSpPr>
        <p:spPr>
          <a:xfrm>
            <a:off x="5257800" y="594360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035040" y="777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Screen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35040" y="1216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Dark splash UI · ENTER and EXIT controls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57800" y="2075688"/>
            <a:ext cx="3657600" cy="1325880"/>
          </a:xfrm>
          <a:prstGeom prst="rect">
            <a:avLst/>
          </a:prstGeom>
          <a:solidFill>
            <a:srgbClr val="2A2320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2" name="Shape 30"/>
          <p:cNvSpPr/>
          <p:nvPr/>
        </p:nvSpPr>
        <p:spPr>
          <a:xfrm>
            <a:off x="5257800" y="2075688"/>
            <a:ext cx="685800" cy="132588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5257800" y="2075688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35040" y="2258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Selector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3504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Grid of 6 buttons — one per algorithm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57800" y="3557016"/>
            <a:ext cx="3657600" cy="1325880"/>
          </a:xfrm>
          <a:prstGeom prst="rect">
            <a:avLst/>
          </a:prstGeom>
          <a:solidFill>
            <a:srgbClr val="2A2320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7" name="Shape 35"/>
          <p:cNvSpPr/>
          <p:nvPr/>
        </p:nvSpPr>
        <p:spPr>
          <a:xfrm>
            <a:off x="5257800" y="3557016"/>
            <a:ext cx="685800" cy="132588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8" name="Text 36"/>
          <p:cNvSpPr/>
          <p:nvPr/>
        </p:nvSpPr>
        <p:spPr>
          <a:xfrm>
            <a:off x="5257800" y="3557016"/>
            <a:ext cx="685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35040" y="3739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Workspace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3504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Tabbed dashboard · side panel · live charts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828800" cy="3657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91440" cy="47548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real-world CSV input yet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91440" cy="47548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Interpretability Gap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Decisions opaque without XAI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18104"/>
            <a:ext cx="91440" cy="47548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Generalization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3924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Some models overfit on small samples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39896"/>
            <a:ext cx="91440" cy="47548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502920" y="3758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Demands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0142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models need GPU resources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361688"/>
            <a:ext cx="91440" cy="47548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502920" y="4379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Retraining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636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accuracy drifts without updates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320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572000" y="1188720"/>
            <a:ext cx="1828800" cy="3657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Shape 21"/>
          <p:cNvSpPr/>
          <p:nvPr/>
        </p:nvSpPr>
        <p:spPr>
          <a:xfrm>
            <a:off x="4572000" y="1463040"/>
            <a:ext cx="320040" cy="32004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5029200" y="1399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CSV import + model export (.pkl)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194560"/>
            <a:ext cx="320040" cy="320040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5029200" y="2130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interface via Flask or Streamlit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926080"/>
            <a:ext cx="320040" cy="32004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Text 28"/>
          <p:cNvSpPr/>
          <p:nvPr/>
        </p:nvSpPr>
        <p:spPr>
          <a:xfrm>
            <a:off x="5029200" y="2862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Learning — CNN &amp; RNN modules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657600"/>
            <a:ext cx="320040" cy="320040"/>
          </a:xfrm>
          <a:prstGeom prst="ellipse">
            <a:avLst/>
          </a:prstGeom>
          <a:solidFill>
            <a:srgbClr val="D9A84E"/>
          </a:solidFill>
          <a:ln w="12700">
            <a:solidFill>
              <a:srgbClr val="D9A84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5029200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assistant + AutoML pipeline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4389120"/>
            <a:ext cx="320040" cy="320040"/>
          </a:xfrm>
          <a:prstGeom prst="ellipse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5029200" y="4325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SHAP &amp; LIME explainability layer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45720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C1440E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4572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54864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fully functional desktop tool integrating 6 ML algorithms in one platform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54864" cy="54864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with PyQt5 and Matplotlib for an interactive visual experience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688336"/>
            <a:ext cx="54864" cy="54864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Covers supervised, unsupervised, and time-series learning paradigms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438144"/>
            <a:ext cx="54864" cy="54864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constraints: synthetic data only, no file import, no model persistence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187952"/>
            <a:ext cx="54864" cy="54864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548640" y="41879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E8D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Next: web deployment, deep learning modules, and SHAP explainability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1371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1828800" cy="4572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457200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EL MKHALET MOUNA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EMSI  ·  Academic Year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Affichage à l'écran 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 Light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hakim alhalli</cp:lastModifiedBy>
  <cp:revision>2</cp:revision>
  <dcterms:created xsi:type="dcterms:W3CDTF">2026-05-22T02:30:27Z</dcterms:created>
  <dcterms:modified xsi:type="dcterms:W3CDTF">2026-05-22T02:33:32Z</dcterms:modified>
</cp:coreProperties>
</file>